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50" r:id="rId3"/>
  </p:sldMasterIdLst>
  <p:notesMasterIdLst>
    <p:notesMasterId r:id="rId27"/>
  </p:notesMasterIdLst>
  <p:sldIdLst>
    <p:sldId id="257" r:id="rId4"/>
    <p:sldId id="258" r:id="rId5"/>
    <p:sldId id="259" r:id="rId6"/>
    <p:sldId id="268" r:id="rId7"/>
    <p:sldId id="269" r:id="rId8"/>
    <p:sldId id="270" r:id="rId9"/>
    <p:sldId id="271" r:id="rId10"/>
    <p:sldId id="260" r:id="rId11"/>
    <p:sldId id="272" r:id="rId12"/>
    <p:sldId id="261" r:id="rId13"/>
    <p:sldId id="273" r:id="rId14"/>
    <p:sldId id="279" r:id="rId15"/>
    <p:sldId id="274" r:id="rId16"/>
    <p:sldId id="275" r:id="rId17"/>
    <p:sldId id="276" r:id="rId18"/>
    <p:sldId id="277" r:id="rId19"/>
    <p:sldId id="262" r:id="rId20"/>
    <p:sldId id="263" r:id="rId21"/>
    <p:sldId id="264" r:id="rId22"/>
    <p:sldId id="265" r:id="rId23"/>
    <p:sldId id="278" r:id="rId24"/>
    <p:sldId id="266" r:id="rId25"/>
    <p:sldId id="267" r:id="rId26"/>
  </p:sldIdLst>
  <p:sldSz cx="12192000" cy="6858000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A7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4" d="100"/>
          <a:sy n="74" d="100"/>
        </p:scale>
        <p:origin x="1013" y="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815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70A489-33D6-45F1-B862-8FEC5F9030CE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104881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104881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1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81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123FD-BF7B-4140-ACFD-9D3AB91FCD1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48643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123FD-BF7B-4140-ACFD-9D3AB91FCD1D}" type="slidenum">
              <a:rPr lang="en-IN" smtClean="0"/>
              <a:t>19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599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104860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0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0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71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104871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734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104873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3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739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1048740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104874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4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4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4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745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1048746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104874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1048748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104874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5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5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70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1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5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5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5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756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1048757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104875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5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6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72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2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104872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2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2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72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104873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71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104871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1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6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104866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6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686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10486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8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680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1048681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104868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8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8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701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1048702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104870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1048704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104870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0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0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69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9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9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5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5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691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1048692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104869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9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9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664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65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104866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6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6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67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104867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7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7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67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104867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7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7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617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104861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1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76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104876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7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7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77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104877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7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7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796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1048797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104879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9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80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78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104878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104878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104878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104878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8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8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80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80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80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5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80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80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8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809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10488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10488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8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8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762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6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104876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6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6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77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104877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8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8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104879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104879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9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9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1048594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 indent="-228600"/>
            <a:r>
              <a:rPr lang="en-US" altLang="en-US" dirty="0"/>
              <a:t>Second level</a:t>
            </a:r>
          </a:p>
          <a:p>
            <a:pPr lvl="2" indent="-228600"/>
            <a:r>
              <a:rPr lang="en-US" altLang="en-US" dirty="0"/>
              <a:t>Third level</a:t>
            </a:r>
          </a:p>
          <a:p>
            <a:pPr lvl="3" indent="-228600"/>
            <a:r>
              <a:rPr lang="en-US" altLang="en-US" dirty="0"/>
              <a:t>Fourth level</a:t>
            </a:r>
          </a:p>
          <a:p>
            <a:pPr lvl="4" indent="-228600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1048595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59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59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104857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 indent="-228600"/>
            <a:r>
              <a:rPr lang="en-US" altLang="en-US" dirty="0"/>
              <a:t>Second level</a:t>
            </a:r>
          </a:p>
          <a:p>
            <a:pPr lvl="2" indent="-228600"/>
            <a:r>
              <a:rPr lang="en-US" altLang="en-US" dirty="0"/>
              <a:t>Third level</a:t>
            </a:r>
          </a:p>
          <a:p>
            <a:pPr lvl="3" indent="-228600"/>
            <a:r>
              <a:rPr lang="en-US" altLang="en-US" dirty="0"/>
              <a:t>Fourth level</a:t>
            </a:r>
          </a:p>
          <a:p>
            <a:pPr lvl="4" indent="-228600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1048612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 indent="-228600"/>
            <a:r>
              <a:rPr lang="en-US" altLang="en-US" dirty="0"/>
              <a:t>Second level</a:t>
            </a:r>
          </a:p>
          <a:p>
            <a:pPr lvl="2" indent="-228600"/>
            <a:r>
              <a:rPr lang="en-US" altLang="en-US" dirty="0"/>
              <a:t>Third level</a:t>
            </a:r>
          </a:p>
          <a:p>
            <a:pPr lvl="3" indent="-228600"/>
            <a:r>
              <a:rPr lang="en-US" altLang="en-US" dirty="0"/>
              <a:t>Fourth level</a:t>
            </a:r>
          </a:p>
          <a:p>
            <a:pPr lvl="4" indent="-228600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1048613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Rectangle 7"/>
          <p:cNvSpPr/>
          <p:nvPr/>
        </p:nvSpPr>
        <p:spPr>
          <a:xfrm>
            <a:off x="0" y="49530"/>
            <a:ext cx="182880" cy="35814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048587" name="Subtitle 2"/>
          <p:cNvSpPr txBox="1"/>
          <p:nvPr/>
        </p:nvSpPr>
        <p:spPr>
          <a:xfrm>
            <a:off x="1165860" y="3083719"/>
            <a:ext cx="10031413" cy="3429000"/>
          </a:xfrm>
          <a:prstGeom prst="rect">
            <a:avLst/>
          </a:prstGeom>
        </p:spPr>
        <p:txBody>
          <a:bodyPr>
            <a:normAutofit fontScale="47500" lnSpcReduction="20000"/>
          </a:bodyPr>
          <a:lstStyle/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</a:pPr>
            <a:endParaRPr kumimoji="0" lang="en-US" sz="2600" b="1" u="sng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</a:t>
            </a:r>
            <a:r>
              <a:rPr kumimoji="0" lang="en-US" sz="4500" b="1" u="sng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Guide: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	                     </a:t>
            </a:r>
            <a:r>
              <a:rPr kumimoji="0" lang="en-US" altLang="en-GB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</a:t>
            </a:r>
            <a:r>
              <a:rPr kumimoji="0" lang="en-US" sz="4500" b="1" u="sng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Co-Guide: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lang="zh-CN" altLang="en-US" dirty="0"/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   Prof. Sapna Sawarkar		  </a:t>
            </a:r>
            <a:r>
              <a:rPr kumimoji="0" lang="en-US" altLang="en-GB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</a:t>
            </a:r>
            <a:r>
              <a:rPr kumimoji="0" lang="en-US" altLang="en-GB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Prof. 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Nikita Jha</a:t>
            </a:r>
            <a:endParaRPr kumimoji="0" lang="en-US" sz="45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alt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prof.                                                     Assistant prof .    </a:t>
            </a:r>
            <a:endParaRPr lang="zh-CN" altLang="en-US" dirty="0"/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</a:pPr>
            <a:endParaRPr kumimoji="0" lang="en-US" sz="4500" b="1" i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</a:pPr>
            <a:r>
              <a:rPr kumimoji="0" lang="en-US" sz="4500" b="1" u="sng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Name of </a:t>
            </a:r>
            <a:r>
              <a:rPr kumimoji="0" lang="en-US" sz="4500" b="1" u="sng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Projectees</a:t>
            </a:r>
            <a:endParaRPr kumimoji="0" lang="en-US" sz="4500" b="1" u="sng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</a:pPr>
            <a:endParaRPr kumimoji="0" lang="en-US" sz="4500" b="1" u="sng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</a:pPr>
            <a:r>
              <a:rPr kumimoji="0" lang="en-US" sz="4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1. </a:t>
            </a:r>
            <a:r>
              <a:rPr lang="en-US" sz="4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Kundan Dani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           2. Meghraj </a:t>
            </a:r>
            <a:r>
              <a:rPr kumimoji="0" lang="en-US" sz="4500" b="1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Hiwase</a:t>
            </a:r>
            <a:endParaRPr kumimoji="0" lang="en-US" sz="45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3. Manish </a:t>
            </a:r>
            <a:r>
              <a:rPr kumimoji="0" lang="en-US" sz="4500" b="1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Girsawle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      4. Atharv </a:t>
            </a:r>
            <a:r>
              <a:rPr kumimoji="0" lang="en-US" sz="4500" b="1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Rakshiye</a:t>
            </a:r>
            <a:endParaRPr kumimoji="0" lang="en-US" sz="45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</a:pPr>
            <a:endParaRPr kumimoji="0" lang="en-US" sz="2600" b="1" i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               Session 2025-2026</a:t>
            </a:r>
            <a:endParaRPr kumimoji="0" lang="en-US" sz="26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48588" name="Rectangle 5"/>
          <p:cNvSpPr txBox="1"/>
          <p:nvPr/>
        </p:nvSpPr>
        <p:spPr>
          <a:xfrm>
            <a:off x="1981199" y="2529722"/>
            <a:ext cx="8229600" cy="7315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altLang="en-US" sz="2400" i="1" dirty="0">
                <a:solidFill>
                  <a:srgbClr val="FF0000"/>
                </a:solidFill>
                <a:latin typeface="Arial Black" panose="020B0A04020102020204" pitchFamily="34" charset="0"/>
                <a:ea typeface="Arial" panose="020B0604020202020204" pitchFamily="34" charset="0"/>
              </a:rPr>
              <a:t>Marketing Strategy Of </a:t>
            </a:r>
            <a:r>
              <a:rPr lang="en-US" altLang="en-US" sz="2400" i="1" dirty="0" err="1">
                <a:solidFill>
                  <a:srgbClr val="FF0000"/>
                </a:solidFill>
                <a:latin typeface="Arial Black" panose="020B0A04020102020204" pitchFamily="34" charset="0"/>
                <a:ea typeface="Arial" panose="020B0604020202020204" pitchFamily="34" charset="0"/>
              </a:rPr>
              <a:t>Zudio</a:t>
            </a:r>
            <a:r>
              <a:rPr lang="en-US" altLang="en-US" sz="2400" i="1" dirty="0">
                <a:solidFill>
                  <a:srgbClr val="FF0000"/>
                </a:solidFill>
                <a:latin typeface="Arial Black" panose="020B0A04020102020204" pitchFamily="34" charset="0"/>
                <a:ea typeface="Arial" panose="020B0604020202020204" pitchFamily="34" charset="0"/>
              </a:rPr>
              <a:t> and its Influence on Purchase Decision of Customer</a:t>
            </a:r>
            <a:endParaRPr lang="en-US" altLang="en-US" sz="2400" i="1" dirty="0">
              <a:solidFill>
                <a:srgbClr val="FF0000"/>
              </a:solidFill>
              <a:latin typeface="Castellar" panose="020A0402060406010301" pitchFamily="18" charset="0"/>
              <a:ea typeface="Arial" panose="020B0604020202020204" pitchFamily="34" charset="0"/>
            </a:endParaRPr>
          </a:p>
        </p:txBody>
      </p:sp>
      <p:sp>
        <p:nvSpPr>
          <p:cNvPr id="1048589" name="Rectangle 5"/>
          <p:cNvSpPr txBox="1"/>
          <p:nvPr/>
        </p:nvSpPr>
        <p:spPr>
          <a:xfrm>
            <a:off x="1981199" y="1832372"/>
            <a:ext cx="8229600" cy="425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altLang="en-US" sz="2400" b="1" i="1" dirty="0">
                <a:latin typeface="Times New Roman" panose="02020603050405020304" pitchFamily="18" charset="0"/>
              </a:rPr>
              <a:t>Project Introductory Seminar </a:t>
            </a:r>
            <a:endParaRPr lang="en-US" altLang="en-US" sz="2400" b="1" i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48590" name="Rectangle 5"/>
          <p:cNvSpPr txBox="1"/>
          <p:nvPr/>
        </p:nvSpPr>
        <p:spPr>
          <a:xfrm>
            <a:off x="1981199" y="2231570"/>
            <a:ext cx="8229600" cy="425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altLang="en-US" sz="2400" b="1" i="1" dirty="0">
                <a:latin typeface="Times New Roman" panose="02020603050405020304" pitchFamily="18" charset="0"/>
              </a:rPr>
              <a:t>On</a:t>
            </a:r>
            <a:endParaRPr lang="en-US" altLang="en-US" sz="2400" b="1" i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48591" name="Rectangle 8"/>
          <p:cNvSpPr/>
          <p:nvPr/>
        </p:nvSpPr>
        <p:spPr>
          <a:xfrm>
            <a:off x="89693" y="-63281"/>
            <a:ext cx="11970227" cy="2222502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marL="365125" lvl="1" indent="-285750" algn="ctr" defTabSz="914400" eaLnBrk="1" hangingPunct="1">
              <a:spcBef>
                <a:spcPts val="500"/>
              </a:spcBef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altLang="en-US" sz="2300" b="1" dirty="0">
                <a:solidFill>
                  <a:srgbClr val="AB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G H RAISONI COLLEGE OF ENGINEERING AND MANAGEMENT</a:t>
            </a:r>
            <a:r>
              <a:rPr lang="en-US" altLang="en-US" sz="2000" b="1" dirty="0">
                <a:solidFill>
                  <a:srgbClr val="05A724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en-US" sz="2000" b="1" dirty="0">
                <a:solidFill>
                  <a:srgbClr val="AB0000"/>
                </a:solidFill>
                <a:latin typeface="Times New Roman" panose="02020603050405020304" pitchFamily="18" charset="0"/>
              </a:rPr>
              <a:t>                                                                                 </a:t>
            </a:r>
            <a:endParaRPr lang="en-US" altLang="en-US" sz="1400" b="1" dirty="0">
              <a:solidFill>
                <a:srgbClr val="AB0000"/>
              </a:solidFill>
              <a:latin typeface="Times New Roman" panose="02020603050405020304" pitchFamily="18" charset="0"/>
            </a:endParaRP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sz="1400" dirty="0">
                <a:latin typeface="Calibri" panose="020F0502020204030204" pitchFamily="34" charset="0"/>
              </a:rPr>
              <a:t>(Approved by AICTE, New Delhi and Recognized by DTE, Maharashtra) </a:t>
            </a:r>
            <a:endParaRPr lang="en-US" sz="1100" dirty="0">
              <a:latin typeface="Calibri" panose="020F0502020204030204" pitchFamily="34" charset="0"/>
            </a:endParaRP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</a:rPr>
              <a:t>   An Autonomous Institute </a:t>
            </a:r>
            <a:r>
              <a:rPr lang="en-US" sz="1400" dirty="0">
                <a:latin typeface="Calibri" panose="020F0502020204030204" pitchFamily="34" charset="0"/>
              </a:rPr>
              <a:t>Affiliated to Rashtrasant Tukadoji Maharaj Nagpur University, Nagpur</a:t>
            </a:r>
            <a:endParaRPr lang="en-US" sz="1100" dirty="0">
              <a:latin typeface="Calibri" panose="020F0502020204030204" pitchFamily="34" charset="0"/>
            </a:endParaRP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</a:rPr>
              <a:t>Accredited by NAAC with A+ Grade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 OF COMMERCE &amp; MANAGEMENT</a:t>
            </a:r>
            <a:endParaRPr lang="en-IN" sz="105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(Bachelor of Business Administration)</a:t>
            </a:r>
            <a:endParaRPr lang="en-IN" sz="105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n-US" altLang="en-US" sz="2000" dirty="0">
              <a:solidFill>
                <a:srgbClr val="C00000"/>
              </a:solidFill>
              <a:latin typeface="Arial Black" panose="020B0A040201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2097152" name="Picture 2"/>
          <p:cNvPicPr>
            <a:picLocks noChangeAspect="1"/>
          </p:cNvPicPr>
          <p:nvPr/>
        </p:nvPicPr>
        <p:blipFill rotWithShape="1">
          <a:blip r:embed="rId2" cstate="print"/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pic>
        <p:nvPicPr>
          <p:cNvPr id="2097153" name="Picture 12" descr="C:\Users\Roshan_Dir_SP\AppData\Local\Packages\Microsoft.Windows.Photos_8wekyb3d8bbwe\TempState\ShareServiceTempFolder\GHRCEM Nagpur.jpeg"/>
          <p:cNvPicPr>
            <a:picLocks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41472"/>
            <a:ext cx="2331720" cy="1506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4" name="Picture 13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317480" y="35718"/>
            <a:ext cx="1874520" cy="90186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2" name="Text Box 2"/>
          <p:cNvSpPr txBox="1">
            <a:spLocks noChangeArrowheads="1"/>
          </p:cNvSpPr>
          <p:nvPr/>
        </p:nvSpPr>
        <p:spPr bwMode="auto">
          <a:xfrm>
            <a:off x="0" y="6231414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Jalgaon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Pandhurna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Rectangle 7"/>
          <p:cNvSpPr/>
          <p:nvPr/>
        </p:nvSpPr>
        <p:spPr>
          <a:xfrm>
            <a:off x="0" y="49530"/>
            <a:ext cx="182880" cy="35814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048604" name="Title 1"/>
          <p:cNvSpPr txBox="1"/>
          <p:nvPr/>
        </p:nvSpPr>
        <p:spPr bwMode="auto">
          <a:xfrm>
            <a:off x="428625" y="5424406"/>
            <a:ext cx="10445750" cy="639763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48605" name="Content Placeholder 2"/>
          <p:cNvSpPr txBox="1"/>
          <p:nvPr/>
        </p:nvSpPr>
        <p:spPr bwMode="auto">
          <a:xfrm>
            <a:off x="266579" y="509745"/>
            <a:ext cx="10445750" cy="491466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Introduction 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Concept of the Topic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</a:pPr>
            <a:r>
              <a:rPr kumimoji="0" lang="en-US" sz="1800" i="0" u="none" strike="noStrike" kern="1200" cap="none" spc="0" normalizeH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eed of the Study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indent="-274320" algn="just" eaLnBrk="1" fontAlgn="auto" hangingPunct="1">
              <a:lnSpc>
                <a:spcPct val="100000"/>
              </a:lnSpc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Study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Study 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Research Gap 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of the Problem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 Analysis and Interpretation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Work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So Far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Expected Findings / Result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the Study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48606" name="Title 1"/>
          <p:cNvSpPr txBox="1"/>
          <p:nvPr/>
        </p:nvSpPr>
        <p:spPr bwMode="auto">
          <a:xfrm>
            <a:off x="0" y="-20328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Contents</a:t>
            </a:r>
          </a:p>
        </p:txBody>
      </p:sp>
      <p:pic>
        <p:nvPicPr>
          <p:cNvPr id="2097155" name="Picture 6"/>
          <p:cNvPicPr>
            <a:picLocks noChangeAspect="1"/>
          </p:cNvPicPr>
          <p:nvPr/>
        </p:nvPicPr>
        <p:blipFill rotWithShape="1">
          <a:blip r:embed="rId2" cstate="print"/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pic>
        <p:nvPicPr>
          <p:cNvPr id="2097156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392" y="874712"/>
            <a:ext cx="5817738" cy="5273040"/>
          </a:xfrm>
          <a:prstGeom prst="flowChartConnector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Rectangle 7"/>
          <p:cNvSpPr/>
          <p:nvPr/>
        </p:nvSpPr>
        <p:spPr>
          <a:xfrm>
            <a:off x="0" y="49530"/>
            <a:ext cx="182880" cy="35814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048608" name="TextBox 1"/>
          <p:cNvSpPr txBox="1"/>
          <p:nvPr/>
        </p:nvSpPr>
        <p:spPr>
          <a:xfrm>
            <a:off x="890905" y="954404"/>
            <a:ext cx="7159625" cy="4616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sz="2400" b="1" dirty="0">
                <a:latin typeface="Times New Roman" panose="02020603050405020304" pitchFamily="18" charset="0"/>
              </a:rPr>
              <a:t>Introduction / background of the study 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48609" name="Title 1"/>
          <p:cNvSpPr txBox="1"/>
          <p:nvPr/>
        </p:nvSpPr>
        <p:spPr bwMode="auto">
          <a:xfrm>
            <a:off x="0" y="-182563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2097157" name="Picture 5"/>
          <p:cNvPicPr>
            <a:picLocks noChangeAspect="1"/>
          </p:cNvPicPr>
          <p:nvPr/>
        </p:nvPicPr>
        <p:blipFill rotWithShape="1">
          <a:blip r:embed="rId2" cstate="print"/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1048610" name="TextBox 1"/>
          <p:cNvSpPr txBox="1"/>
          <p:nvPr/>
        </p:nvSpPr>
        <p:spPr>
          <a:xfrm>
            <a:off x="890905" y="1534160"/>
            <a:ext cx="8242935" cy="3749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Marketing strategies strongly influence customer purchase decisions in retail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/>
              <a:t>Zudio</a:t>
            </a:r>
            <a:r>
              <a:rPr lang="en-IN" sz="2000" dirty="0"/>
              <a:t> is a popular value fashion brand under the Tata Group.</a:t>
            </a:r>
          </a:p>
          <a:p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It offers trendy clothing at affordable prices.</a:t>
            </a:r>
          </a:p>
          <a:p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brand focuses on low pricing, wide product range, and attractive store layouts.</a:t>
            </a:r>
          </a:p>
          <a:p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This study examines how </a:t>
            </a:r>
            <a:r>
              <a:rPr lang="en-IN" sz="2000" dirty="0" err="1"/>
              <a:t>Zudio’s</a:t>
            </a:r>
            <a:r>
              <a:rPr lang="en-IN" sz="2000" dirty="0"/>
              <a:t> strategies affect customer buying </a:t>
            </a:r>
            <a:r>
              <a:rPr lang="en-IN" sz="2000" dirty="0" err="1"/>
              <a:t>behavior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12105-9A6E-A0F1-2C03-853B0BEDC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V="1">
            <a:off x="-293225" y="-1689903"/>
            <a:ext cx="5513408" cy="128479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25A2F6-0641-1E2C-1D93-E17DB9BE8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493135"/>
            <a:ext cx="11771453" cy="5364866"/>
          </a:xfrm>
        </p:spPr>
        <p:txBody>
          <a:bodyPr/>
          <a:lstStyle/>
          <a:p>
            <a:r>
              <a:rPr lang="en-US" sz="4000" b="1" dirty="0"/>
              <a:t>Concept of the Topic Basic Explanation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4000" dirty="0" err="1"/>
              <a:t>Zudio</a:t>
            </a:r>
            <a:r>
              <a:rPr lang="en-US" sz="4000" dirty="0"/>
              <a:t> is a fashion retail brand under Tata Group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4000" dirty="0"/>
              <a:t>Focus on trendy, low-cost apparel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4000" dirty="0"/>
              <a:t>Targets youth and middle-income consumers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4000" dirty="0"/>
              <a:t>Operates through physical retail stores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A9E4C4-71E8-067D-033E-A4A91E012ED2}"/>
              </a:ext>
            </a:extLst>
          </p:cNvPr>
          <p:cNvSpPr txBox="1"/>
          <p:nvPr/>
        </p:nvSpPr>
        <p:spPr bwMode="auto">
          <a:xfrm>
            <a:off x="0" y="-20328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Concept of the Topic</a:t>
            </a:r>
          </a:p>
        </p:txBody>
      </p:sp>
    </p:spTree>
    <p:extLst>
      <p:ext uri="{BB962C8B-B14F-4D97-AF65-F5344CB8AC3E}">
        <p14:creationId xmlns:p14="http://schemas.microsoft.com/office/powerpoint/2010/main" val="4123628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1B93A-DF71-9AFD-DE94-C742A3116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42662"/>
            <a:ext cx="10515600" cy="810228"/>
          </a:xfrm>
        </p:spPr>
        <p:txBody>
          <a:bodyPr/>
          <a:lstStyle/>
          <a:p>
            <a:pPr algn="just"/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4B438-C38A-C9E9-8236-0B670D47F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3767"/>
            <a:ext cx="10515600" cy="4973196"/>
          </a:xfrm>
        </p:spPr>
        <p:txBody>
          <a:bodyPr/>
          <a:lstStyle/>
          <a:p>
            <a:pPr marL="0" indent="0">
              <a:buNone/>
            </a:pPr>
            <a:r>
              <a:rPr lang="en-US" sz="4400" b="1" dirty="0"/>
              <a:t> Need of the Study</a:t>
            </a:r>
          </a:p>
          <a:p>
            <a:r>
              <a:rPr lang="en-US" sz="4400" dirty="0"/>
              <a:t>To understand consumer preference for budget fashion</a:t>
            </a:r>
          </a:p>
          <a:p>
            <a:r>
              <a:rPr lang="en-US" sz="4400" dirty="0"/>
              <a:t>To analyze </a:t>
            </a:r>
            <a:r>
              <a:rPr lang="en-US" sz="4400" dirty="0" err="1"/>
              <a:t>Zudio’s</a:t>
            </a:r>
            <a:r>
              <a:rPr lang="en-US" sz="4400" dirty="0"/>
              <a:t> market positioning</a:t>
            </a:r>
          </a:p>
          <a:p>
            <a:r>
              <a:rPr lang="en-US" sz="4400" dirty="0"/>
              <a:t>To study customer satisfaction levels</a:t>
            </a:r>
          </a:p>
          <a:p>
            <a:r>
              <a:rPr lang="en-US" sz="4400" dirty="0"/>
              <a:t>To evaluate competitive advantage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4BA6C06-6923-6CC6-3125-C883501EADAF}"/>
              </a:ext>
            </a:extLst>
          </p:cNvPr>
          <p:cNvSpPr txBox="1"/>
          <p:nvPr/>
        </p:nvSpPr>
        <p:spPr bwMode="auto">
          <a:xfrm>
            <a:off x="0" y="-20328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of the study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537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47CD-2E2A-13F1-682C-0396C825D3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041722"/>
            <a:ext cx="9144000" cy="671332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B048FB-174B-E752-05FD-26CEED8D1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405" y="1611192"/>
            <a:ext cx="9144000" cy="1655762"/>
          </a:xfrm>
        </p:spPr>
        <p:txBody>
          <a:bodyPr/>
          <a:lstStyle/>
          <a:p>
            <a:pPr algn="just"/>
            <a:r>
              <a:rPr lang="en-US" sz="3600" b="1" dirty="0"/>
              <a:t>   Objectives of the Study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3600" dirty="0"/>
              <a:t>To analyze </a:t>
            </a:r>
            <a:r>
              <a:rPr lang="en-US" sz="3600" dirty="0" err="1"/>
              <a:t>Zudio’s</a:t>
            </a:r>
            <a:r>
              <a:rPr lang="en-US" sz="3600" dirty="0"/>
              <a:t> marketing strategy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3600" dirty="0"/>
              <a:t>To study customer perception towards the brand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3600" dirty="0"/>
              <a:t>To examine pricing and promotional 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3600" dirty="0"/>
              <a:t>To identify strengths and weaknesses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3600" dirty="0"/>
              <a:t>To understand growth opportunities</a:t>
            </a:r>
          </a:p>
          <a:p>
            <a:br>
              <a:rPr lang="en-US" dirty="0"/>
            </a:b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C6D9C73-21F2-66C6-E8ED-2D15C61B397B}"/>
              </a:ext>
            </a:extLst>
          </p:cNvPr>
          <p:cNvSpPr txBox="1"/>
          <p:nvPr/>
        </p:nvSpPr>
        <p:spPr bwMode="auto">
          <a:xfrm>
            <a:off x="0" y="-20328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study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924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838E-D2CB-05CD-B975-171D21277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-1597306"/>
            <a:ext cx="10515600" cy="126164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B4CF2-F792-8DB7-5DFD-DD6D5E9EB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688" y="1122744"/>
            <a:ext cx="10937111" cy="5054219"/>
          </a:xfrm>
        </p:spPr>
        <p:txBody>
          <a:bodyPr/>
          <a:lstStyle/>
          <a:p>
            <a:r>
              <a:rPr lang="en-US" sz="4000" b="1" dirty="0"/>
              <a:t>Scope of the Study</a:t>
            </a:r>
          </a:p>
          <a:p>
            <a:r>
              <a:rPr lang="en-US" sz="4000" dirty="0"/>
              <a:t>Covers </a:t>
            </a:r>
            <a:r>
              <a:rPr lang="en-US" sz="4000" dirty="0" err="1"/>
              <a:t>Zudio</a:t>
            </a:r>
            <a:r>
              <a:rPr lang="en-US" sz="4000" dirty="0"/>
              <a:t> stores in selected locations</a:t>
            </a:r>
          </a:p>
          <a:p>
            <a:r>
              <a:rPr lang="en-US" sz="4000" dirty="0"/>
              <a:t>Focus on marketing strategies and customer behavior</a:t>
            </a:r>
          </a:p>
          <a:p>
            <a:r>
              <a:rPr lang="en-US" sz="4000" dirty="0"/>
              <a:t>Includes product range, pricing, and branding</a:t>
            </a:r>
          </a:p>
          <a:p>
            <a:r>
              <a:rPr lang="en-US" sz="4000" dirty="0"/>
              <a:t>Limited to Indian retail market</a:t>
            </a:r>
          </a:p>
          <a:p>
            <a:r>
              <a:rPr lang="en-US" sz="4000" dirty="0"/>
              <a:t>Useful for students and researchers in marketing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61FF9B-3FFE-668F-A7F1-A400EF9DAED5}"/>
              </a:ext>
            </a:extLst>
          </p:cNvPr>
          <p:cNvSpPr txBox="1"/>
          <p:nvPr/>
        </p:nvSpPr>
        <p:spPr bwMode="auto">
          <a:xfrm>
            <a:off x="0" y="-20328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study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313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Rectangle 7"/>
          <p:cNvSpPr/>
          <p:nvPr/>
        </p:nvSpPr>
        <p:spPr>
          <a:xfrm>
            <a:off x="0" y="49530"/>
            <a:ext cx="182880" cy="35814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4194304" name="Table 1"/>
          <p:cNvGraphicFramePr>
            <a:graphicFrameLocks noGrp="1"/>
          </p:cNvGraphicFramePr>
          <p:nvPr/>
        </p:nvGraphicFramePr>
        <p:xfrm>
          <a:off x="1" y="578961"/>
          <a:ext cx="12192001" cy="62438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06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5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2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57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103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Sr. No.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Paper</a:t>
                      </a:r>
                      <a:r>
                        <a:rPr lang="en-US" sz="1800" baseline="0" dirty="0"/>
                        <a:t> Title and its Author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Details of Publication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Findings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729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Design and Fabrication of Waste Collecting Machine</a:t>
                      </a:r>
                    </a:p>
                    <a:p>
                      <a:pPr algn="ctr"/>
                      <a:r>
                        <a:rPr lang="en-IN" dirty="0" err="1"/>
                        <a:t>Brijesh</a:t>
                      </a:r>
                      <a:r>
                        <a:rPr lang="en-IN" dirty="0"/>
                        <a:t> K J, </a:t>
                      </a:r>
                      <a:r>
                        <a:rPr lang="en-IN" dirty="0" err="1"/>
                        <a:t>Karthik</a:t>
                      </a:r>
                      <a:r>
                        <a:rPr lang="en-IN" dirty="0"/>
                        <a:t> P, </a:t>
                      </a:r>
                      <a:r>
                        <a:rPr lang="en-IN" dirty="0" err="1"/>
                        <a:t>Adarsh</a:t>
                      </a:r>
                      <a:r>
                        <a:rPr lang="en-IN" dirty="0"/>
                        <a:t> S B, </a:t>
                      </a:r>
                      <a:r>
                        <a:rPr lang="en-IN" dirty="0" err="1"/>
                        <a:t>Githin</a:t>
                      </a:r>
                      <a:r>
                        <a:rPr lang="en-IN" dirty="0"/>
                        <a:t> V, Kevin Xavier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International Journal of Research Publication and Reviews (IJRPR), Vol. 4, No. 10, pp. 539–540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Examines </a:t>
                      </a:r>
                      <a:r>
                        <a:rPr lang="en-US" dirty="0" err="1"/>
                        <a:t>Zudio’s</a:t>
                      </a:r>
                      <a:r>
                        <a:rPr lang="en-US" dirty="0"/>
                        <a:t> marketing strategies such as branding, customer engagement, pricing, and digital marketing, and analyzes their influence on consumer perception and brand loyalty.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548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Study on Marketing Strategy of </a:t>
                      </a:r>
                      <a:r>
                        <a:rPr lang="en-US" dirty="0" err="1"/>
                        <a:t>Zudio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 SRUJAN (Peer-Reviewed Journal), Vol. 1, No. 1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Applies the Blue Ocean Strategy framework to </a:t>
                      </a:r>
                      <a:r>
                        <a:rPr lang="en-US" dirty="0" err="1"/>
                        <a:t>Zudio</a:t>
                      </a:r>
                      <a:r>
                        <a:rPr lang="en-US" dirty="0"/>
                        <a:t>, highlighting its unique market positioning and its impact on customer demand and retail growth.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003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Comprehensive Analysis of </a:t>
                      </a:r>
                      <a:r>
                        <a:rPr lang="en-US" dirty="0" err="1"/>
                        <a:t>Zudio</a:t>
                      </a:r>
                      <a:r>
                        <a:rPr lang="en-US" dirty="0"/>
                        <a:t> Fashion Brand – A Case Study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GBS Impact: Journal of Multi-Disciplinary Research, Vol. 11, Issue 1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Analyzes customer preferences towards </a:t>
                      </a:r>
                      <a:r>
                        <a:rPr lang="en-US" dirty="0" err="1"/>
                        <a:t>Zudio</a:t>
                      </a:r>
                      <a:r>
                        <a:rPr lang="en-US" dirty="0"/>
                        <a:t> products and services, offering insights into factors influencing purchase decisions.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48622" name="Title 1"/>
          <p:cNvSpPr txBox="1"/>
          <p:nvPr/>
        </p:nvSpPr>
        <p:spPr bwMode="auto">
          <a:xfrm>
            <a:off x="0" y="-91282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Review of Literature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AACFD-F0DA-D0D9-7BB4-7CDF86BDF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666753"/>
            <a:ext cx="9144000" cy="960697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0597CD-DF8F-9594-D9F4-FFEC0F6683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987" y="1724627"/>
            <a:ext cx="10205013" cy="4896091"/>
          </a:xfrm>
        </p:spPr>
        <p:txBody>
          <a:bodyPr/>
          <a:lstStyle/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3600" dirty="0"/>
              <a:t>Lack of detailed analysis on its pricing model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3600" dirty="0"/>
              <a:t>Limited research specifically on </a:t>
            </a:r>
            <a:r>
              <a:rPr lang="en-US" sz="3600" dirty="0" err="1"/>
              <a:t>Zudio</a:t>
            </a:r>
            <a:r>
              <a:rPr lang="en-US" sz="3600" dirty="0"/>
              <a:t> brand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3600" dirty="0"/>
              <a:t>Few studies on customer perception in Tier-2 cities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3600" dirty="0"/>
              <a:t>Need for updated research on fast fashion growth in India</a:t>
            </a:r>
          </a:p>
          <a:p>
            <a:pPr algn="just"/>
            <a:br>
              <a:rPr lang="en-US" sz="3600" dirty="0"/>
            </a:br>
            <a:endParaRPr lang="en-IN" sz="3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D2F9FC3-1AC2-6C52-B7D0-F824067EDC10}"/>
              </a:ext>
            </a:extLst>
          </p:cNvPr>
          <p:cNvSpPr txBox="1"/>
          <p:nvPr/>
        </p:nvSpPr>
        <p:spPr bwMode="auto">
          <a:xfrm>
            <a:off x="0" y="-20328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91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Rectangle 7"/>
          <p:cNvSpPr/>
          <p:nvPr/>
        </p:nvSpPr>
        <p:spPr>
          <a:xfrm>
            <a:off x="0" y="49530"/>
            <a:ext cx="182880" cy="35814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048624" name="TextBox 7"/>
          <p:cNvSpPr txBox="1"/>
          <p:nvPr/>
        </p:nvSpPr>
        <p:spPr>
          <a:xfrm>
            <a:off x="728345" y="750029"/>
            <a:ext cx="7159625" cy="4616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sz="2400" b="1" dirty="0">
                <a:latin typeface="Times New Roman" panose="02020603050405020304" pitchFamily="18" charset="0"/>
              </a:rPr>
              <a:t>Problem identified and its justification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48625" name="Title 1"/>
          <p:cNvSpPr txBox="1"/>
          <p:nvPr/>
        </p:nvSpPr>
        <p:spPr bwMode="auto">
          <a:xfrm>
            <a:off x="0" y="-167323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 of the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Problem </a:t>
            </a:r>
          </a:p>
        </p:txBody>
      </p:sp>
      <p:pic>
        <p:nvPicPr>
          <p:cNvPr id="2097158" name="Picture 5"/>
          <p:cNvPicPr>
            <a:picLocks noChangeAspect="1"/>
          </p:cNvPicPr>
          <p:nvPr/>
        </p:nvPicPr>
        <p:blipFill rotWithShape="1">
          <a:blip r:embed="rId2" cstate="print"/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1048626" name="TextBox 9"/>
          <p:cNvSpPr txBox="1"/>
          <p:nvPr/>
        </p:nvSpPr>
        <p:spPr>
          <a:xfrm>
            <a:off x="325120" y="1410970"/>
            <a:ext cx="10027920" cy="358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48627" name="Rectangle 6"/>
          <p:cNvSpPr>
            <a:spLocks noChangeArrowheads="1"/>
          </p:cNvSpPr>
          <p:nvPr/>
        </p:nvSpPr>
        <p:spPr bwMode="auto">
          <a:xfrm>
            <a:off x="657225" y="1427480"/>
            <a:ext cx="10534015" cy="4003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study helps understand how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Zudio’s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marketing strategies affect customer buying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useful to analyze customer behavior in India’s price-sensitive fashion market.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findings can help marketers improve pricing, promotion, and store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study adds academic value by focusing on a fast-growing Indian retail brand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0F90C-E43D-BF8A-0C00-2B61F4CC5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V="1">
            <a:off x="1651321" y="-1945510"/>
            <a:ext cx="9144000" cy="1655762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903E64D-4CF6-9748-A24C-3E63D046F82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0" y="1282243"/>
            <a:ext cx="12191999" cy="64633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I. Research Methodology Components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Research Type: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Descriptive to describe the characteristics of the consumer base</a:t>
            </a:r>
            <a:r>
              <a:rPr lang="en-US" altLang="en-US" sz="2800" dirty="0">
                <a:solidFill>
                  <a:srgbClr val="0A0A0A"/>
                </a:solidFill>
                <a:latin typeface="Google Sans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and Analytical (to analyze the success factors).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Sampling Method: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Convenience sampling and Purposive sampling are common, targeting shoppers at specific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Zudio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retail outlets.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II. Sources of Data Collection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Primary Data: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Gathered directly from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Zudio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customers to understand their perceptions and purchasing behavior.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Secondary Data: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Collected to support the analysis of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Zudio’s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business model and marketing strategies.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70BC7A1-B7E6-3393-590B-6D8ED72344BA}"/>
              </a:ext>
            </a:extLst>
          </p:cNvPr>
          <p:cNvSpPr txBox="1"/>
          <p:nvPr/>
        </p:nvSpPr>
        <p:spPr bwMode="auto">
          <a:xfrm>
            <a:off x="0" y="-20328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947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69513-9C05-2E7D-CA10-1195B3E41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847109"/>
            <a:ext cx="9144000" cy="234834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67F5F5-E748-DFF6-A845-3CA8131D7F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550" y="581891"/>
            <a:ext cx="11772900" cy="5881253"/>
          </a:xfrm>
        </p:spPr>
        <p:txBody>
          <a:bodyPr/>
          <a:lstStyle/>
          <a:p>
            <a:pPr algn="just"/>
            <a:endParaRPr lang="en-US" sz="3200" b="1" dirty="0"/>
          </a:p>
          <a:p>
            <a:pPr algn="just"/>
            <a:r>
              <a:rPr lang="en-US" sz="3200" b="1" dirty="0"/>
              <a:t>Customer review </a:t>
            </a:r>
          </a:p>
          <a:p>
            <a:pPr algn="just"/>
            <a:endParaRPr lang="en-US" sz="3200" b="1" dirty="0"/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b="1" dirty="0"/>
              <a:t>Affordability &amp; Value:</a:t>
            </a:r>
            <a:r>
              <a:rPr lang="en-US" sz="3200" dirty="0"/>
              <a:t> Customers feel </a:t>
            </a:r>
            <a:r>
              <a:rPr lang="en-US" sz="3200" dirty="0" err="1"/>
              <a:t>Zudio</a:t>
            </a:r>
            <a:r>
              <a:rPr lang="en-US" sz="3200" dirty="0"/>
              <a:t> offers some of the best prices in the market, often comparing it to a "budget-friendly Westside" or "India's Shein".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b="1" dirty="0"/>
              <a:t>Word-of-Mouth Over Ads:</a:t>
            </a:r>
            <a:r>
              <a:rPr lang="en-US" sz="3200" dirty="0"/>
              <a:t> The brand is lauded for growing rapidly without traditional TV or print ads, relying on viral popularity.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3200" b="1" dirty="0"/>
              <a:t>Rapid Fashion Turnover:</a:t>
            </a:r>
            <a:r>
              <a:rPr lang="en-US" sz="3200" dirty="0"/>
              <a:t> The inventory changes quickly, providing a fresh, trendy collection 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F424F8-A959-6B15-55B1-F95157A2F566}"/>
              </a:ext>
            </a:extLst>
          </p:cNvPr>
          <p:cNvSpPr txBox="1"/>
          <p:nvPr/>
        </p:nvSpPr>
        <p:spPr bwMode="auto">
          <a:xfrm>
            <a:off x="0" y="-182563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Source of Data collection</a:t>
            </a:r>
          </a:p>
        </p:txBody>
      </p:sp>
    </p:spTree>
    <p:extLst>
      <p:ext uri="{BB962C8B-B14F-4D97-AF65-F5344CB8AC3E}">
        <p14:creationId xmlns:p14="http://schemas.microsoft.com/office/powerpoint/2010/main" val="1683237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2A04E-BA39-D9EB-E2C9-6765D52AF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V="1">
            <a:off x="1524000" y="-1053297"/>
            <a:ext cx="9144000" cy="53243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656A48-31FD-6B04-FA40-FD72915AA2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757" y="1238491"/>
            <a:ext cx="10008243" cy="4019309"/>
          </a:xfrm>
        </p:spPr>
        <p:txBody>
          <a:bodyPr/>
          <a:lstStyle/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en-US" sz="3600" b="1" dirty="0"/>
              <a:t> Data Analysis and Interpretation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en-US" sz="3600" dirty="0"/>
              <a:t>Use of charts and graphs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en-US" sz="3600" dirty="0"/>
              <a:t>Pie charts for customer preferences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en-US" sz="3600" dirty="0"/>
              <a:t>Bar graphs for pricing comparison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en-US" sz="3600" dirty="0"/>
              <a:t>Tables for survey results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en-US" sz="3600" dirty="0"/>
              <a:t>Interpretation shows affordability as key factor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en-US" sz="3600" dirty="0"/>
              <a:t>Customers prefer trendy designs at low prices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br>
              <a:rPr lang="en-US" sz="3600" dirty="0"/>
            </a:br>
            <a:endParaRPr lang="en-IN" sz="3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5369A44-1F3C-30EA-6055-D186C722C208}"/>
              </a:ext>
            </a:extLst>
          </p:cNvPr>
          <p:cNvSpPr txBox="1"/>
          <p:nvPr/>
        </p:nvSpPr>
        <p:spPr bwMode="auto">
          <a:xfrm>
            <a:off x="0" y="-20328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and Interpretation 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787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EA101-4B1E-2F98-7872-20BA0E7B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-810228"/>
            <a:ext cx="10515600" cy="54401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5FA9E-BCA5-9544-0102-28C336A7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400" b="1" dirty="0"/>
              <a:t>Work Done So Far (Progress Report)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4400" dirty="0"/>
              <a:t>Topic selection completed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4400" dirty="0"/>
              <a:t>Literature review done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4400" dirty="0"/>
              <a:t>Questionnaire prepared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4400" dirty="0"/>
              <a:t>Data collection started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4400" dirty="0"/>
              <a:t>Initial analysis in progress</a:t>
            </a:r>
          </a:p>
          <a:p>
            <a:pPr marL="0" indent="0">
              <a:buNone/>
            </a:pPr>
            <a:br>
              <a:rPr lang="en-US" sz="4400" dirty="0"/>
            </a:br>
            <a:endParaRPr lang="en-IN" sz="4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8FF9012-D170-C021-01B2-0B8EA1472AE2}"/>
              </a:ext>
            </a:extLst>
          </p:cNvPr>
          <p:cNvSpPr txBox="1"/>
          <p:nvPr/>
        </p:nvSpPr>
        <p:spPr bwMode="auto">
          <a:xfrm>
            <a:off x="0" y="-20328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Done So Far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940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142E1-5907-1527-0682-3D0F8D5DD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45720"/>
            <a:ext cx="9144000" cy="4571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7F31E-9BEB-999B-7098-3180AB3699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919" y="1562581"/>
            <a:ext cx="11667281" cy="5023414"/>
          </a:xfrm>
        </p:spPr>
        <p:txBody>
          <a:bodyPr/>
          <a:lstStyle/>
          <a:p>
            <a:pPr algn="just"/>
            <a:r>
              <a:rPr lang="en-US" sz="3600" b="1" dirty="0"/>
              <a:t>Expected Findings / Results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3600" dirty="0" err="1"/>
              <a:t>Zudio’s</a:t>
            </a:r>
            <a:r>
              <a:rPr lang="en-US" sz="3600" dirty="0"/>
              <a:t> low pricing is major attraction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3600" dirty="0"/>
              <a:t>High demand among youth and middle-class consumers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3600" dirty="0"/>
              <a:t>Strong store expansion strategy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3600" dirty="0"/>
              <a:t>Limited advertising but strong word-of-mouth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3600" dirty="0"/>
              <a:t>Competitive advantage in affordability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3DAF5F5-8916-E058-28BA-E666E8F19C52}"/>
              </a:ext>
            </a:extLst>
          </p:cNvPr>
          <p:cNvSpPr txBox="1"/>
          <p:nvPr/>
        </p:nvSpPr>
        <p:spPr bwMode="auto">
          <a:xfrm>
            <a:off x="0" y="-20328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Findings / Results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057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E5148-373E-542A-B051-E8E774997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V="1">
            <a:off x="1524000" y="-2083443"/>
            <a:ext cx="9144000" cy="9028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3B9273-FAED-CAB7-24C3-8B1E7CC27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595" y="1504709"/>
            <a:ext cx="11516810" cy="4181354"/>
          </a:xfrm>
        </p:spPr>
        <p:txBody>
          <a:bodyPr/>
          <a:lstStyle/>
          <a:p>
            <a:pPr algn="just"/>
            <a:r>
              <a:rPr lang="en-US" sz="3600" b="1" dirty="0"/>
              <a:t>Limitations of the Study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3600" dirty="0"/>
              <a:t>Limited sample size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3600" dirty="0"/>
              <a:t>Time constraints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3600" dirty="0"/>
              <a:t>Data may not represent all regions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3600" dirty="0"/>
              <a:t>Dependence on respondent accuracy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3600" dirty="0"/>
              <a:t>Limited access to company internal data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br>
              <a:rPr lang="en-US" sz="3600" dirty="0"/>
            </a:br>
            <a:endParaRPr lang="en-IN" sz="3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4A1643-7BB2-C879-DDA2-CA5249E0287F}"/>
              </a:ext>
            </a:extLst>
          </p:cNvPr>
          <p:cNvSpPr txBox="1"/>
          <p:nvPr/>
        </p:nvSpPr>
        <p:spPr bwMode="auto">
          <a:xfrm>
            <a:off x="0" y="-20328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imitations of the Study</a:t>
            </a:r>
          </a:p>
        </p:txBody>
      </p:sp>
    </p:spTree>
    <p:extLst>
      <p:ext uri="{BB962C8B-B14F-4D97-AF65-F5344CB8AC3E}">
        <p14:creationId xmlns:p14="http://schemas.microsoft.com/office/powerpoint/2010/main" val="3308329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Rectangle 7"/>
          <p:cNvSpPr/>
          <p:nvPr/>
        </p:nvSpPr>
        <p:spPr>
          <a:xfrm>
            <a:off x="0" y="49530"/>
            <a:ext cx="182880" cy="35814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048629" name="TextBox 7"/>
          <p:cNvSpPr txBox="1"/>
          <p:nvPr/>
        </p:nvSpPr>
        <p:spPr>
          <a:xfrm>
            <a:off x="490559" y="887636"/>
            <a:ext cx="7159625" cy="4616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IN" altLang="en-US" sz="2400" b="1" dirty="0">
                <a:latin typeface="Times New Roman" panose="02020603050405020304" pitchFamily="18" charset="0"/>
              </a:rPr>
              <a:t>Justifications for Selecting the Title</a:t>
            </a:r>
          </a:p>
        </p:txBody>
      </p:sp>
      <p:sp>
        <p:nvSpPr>
          <p:cNvPr id="1048630" name="Title 1"/>
          <p:cNvSpPr txBox="1"/>
          <p:nvPr/>
        </p:nvSpPr>
        <p:spPr bwMode="auto">
          <a:xfrm>
            <a:off x="0" y="-91282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</a:pP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Justifications for Selecting the Title</a:t>
            </a:r>
          </a:p>
        </p:txBody>
      </p:sp>
      <p:pic>
        <p:nvPicPr>
          <p:cNvPr id="2097159" name="Picture 5"/>
          <p:cNvPicPr>
            <a:picLocks noChangeAspect="1"/>
          </p:cNvPicPr>
          <p:nvPr/>
        </p:nvPicPr>
        <p:blipFill rotWithShape="1">
          <a:blip r:embed="rId2" cstate="print"/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1048631" name="Rectangle 1"/>
          <p:cNvSpPr>
            <a:spLocks noChangeArrowheads="1"/>
          </p:cNvSpPr>
          <p:nvPr/>
        </p:nvSpPr>
        <p:spPr bwMode="auto">
          <a:xfrm>
            <a:off x="622639" y="2012386"/>
            <a:ext cx="8856922" cy="25545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brand follows a </a:t>
            </a:r>
            <a:r>
              <a:rPr lang="en-US" altLang="en-US" sz="2000" dirty="0" err="1"/>
              <a:t>Zudio</a:t>
            </a:r>
            <a:r>
              <a:rPr lang="en-US" altLang="en-US" sz="2000" dirty="0"/>
              <a:t> is one of the fastest-growing fashion retail brands in India, making it a relevant subject for study.</a:t>
            </a:r>
          </a:p>
          <a:p>
            <a:pPr eaLnBrk="0" hangingPunct="0">
              <a:buFontTx/>
              <a:buChar char="•"/>
            </a:pP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unique marketing strategy based on low pricing, offline stores, and trend-based products, which strongly influences customer buying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Studying this topic helps understand how marketing strategies affect customer purchase decisions in the fashion retail industry.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Rectangle 7"/>
          <p:cNvSpPr/>
          <p:nvPr/>
        </p:nvSpPr>
        <p:spPr>
          <a:xfrm>
            <a:off x="0" y="49530"/>
            <a:ext cx="182880" cy="35814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048633" name="TextBox 7"/>
          <p:cNvSpPr txBox="1"/>
          <p:nvPr/>
        </p:nvSpPr>
        <p:spPr>
          <a:xfrm>
            <a:off x="880745" y="1014413"/>
            <a:ext cx="7159625" cy="738664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sz="2400" b="1" dirty="0">
                <a:latin typeface="Times New Roman" panose="02020603050405020304" pitchFamily="18" charset="0"/>
              </a:rPr>
              <a:t>Objective of the Project</a:t>
            </a:r>
          </a:p>
          <a:p>
            <a:pPr eaLnBrk="0" hangingPunct="0"/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48634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</p:txBody>
      </p:sp>
      <p:pic>
        <p:nvPicPr>
          <p:cNvPr id="2097160" name="Picture 5"/>
          <p:cNvPicPr>
            <a:picLocks noChangeAspect="1"/>
          </p:cNvPicPr>
          <p:nvPr/>
        </p:nvPicPr>
        <p:blipFill rotWithShape="1">
          <a:blip r:embed="rId2" cstate="print"/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1048635" name="Rectangle 1"/>
          <p:cNvSpPr>
            <a:spLocks noChangeArrowheads="1"/>
          </p:cNvSpPr>
          <p:nvPr/>
        </p:nvSpPr>
        <p:spPr bwMode="auto">
          <a:xfrm>
            <a:off x="1016000" y="2090054"/>
            <a:ext cx="10128171" cy="313944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understand the pricing, product, promotion, and store strategies followed by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Zudio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examine the factors that influence customers to purchase products from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Zudio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customer perception and satisfaction towards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Zudio’s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products and pricing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identify the role of store experience and visual merchandising in purchase decisions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Rectangle 7"/>
          <p:cNvSpPr/>
          <p:nvPr/>
        </p:nvSpPr>
        <p:spPr>
          <a:xfrm>
            <a:off x="0" y="49530"/>
            <a:ext cx="182880" cy="35814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048637" name="Title 1"/>
          <p:cNvSpPr txBox="1"/>
          <p:nvPr/>
        </p:nvSpPr>
        <p:spPr>
          <a:xfrm>
            <a:off x="2476500" y="4098925"/>
            <a:ext cx="7239000" cy="9080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endParaRPr lang="en-US" altLang="en-US" sz="3900" dirty="0">
              <a:solidFill>
                <a:srgbClr val="52525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48638" name="TextBox 7"/>
          <p:cNvSpPr txBox="1"/>
          <p:nvPr/>
        </p:nvSpPr>
        <p:spPr>
          <a:xfrm>
            <a:off x="992505" y="1025128"/>
            <a:ext cx="7159625" cy="4616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sz="2400" b="1" dirty="0">
                <a:latin typeface="Times New Roman" panose="02020603050405020304" pitchFamily="18" charset="0"/>
              </a:rPr>
              <a:t>Expected output of the project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48639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Expected Result</a:t>
            </a:r>
          </a:p>
        </p:txBody>
      </p:sp>
      <p:pic>
        <p:nvPicPr>
          <p:cNvPr id="2097161" name="Picture 6"/>
          <p:cNvPicPr>
            <a:picLocks noChangeAspect="1"/>
          </p:cNvPicPr>
          <p:nvPr/>
        </p:nvPicPr>
        <p:blipFill rotWithShape="1">
          <a:blip r:embed="rId3" cstate="print"/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1048640" name="Rectangle 1"/>
          <p:cNvSpPr>
            <a:spLocks noChangeArrowheads="1"/>
          </p:cNvSpPr>
          <p:nvPr/>
        </p:nvSpPr>
        <p:spPr bwMode="auto">
          <a:xfrm>
            <a:off x="530923" y="2151728"/>
            <a:ext cx="11305477" cy="25545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study is expected to identify the key marketing strategies adopted by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Zudio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expected to show how pricing, product variety, and store experience influence customer purchase decisions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may reveal that affordable pricing plays a major role in attracting customers to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Zudio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Rectangle 7"/>
          <p:cNvSpPr/>
          <p:nvPr/>
        </p:nvSpPr>
        <p:spPr>
          <a:xfrm>
            <a:off x="0" y="49530"/>
            <a:ext cx="182880" cy="35814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048645" name="Title 1"/>
          <p:cNvSpPr txBox="1"/>
          <p:nvPr/>
        </p:nvSpPr>
        <p:spPr>
          <a:xfrm>
            <a:off x="2293938" y="2054225"/>
            <a:ext cx="7239000" cy="9080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endParaRPr lang="en-US" altLang="en-US" sz="3900" dirty="0">
              <a:solidFill>
                <a:srgbClr val="52525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4194305" name="Table 1024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7884771"/>
              </p:ext>
            </p:extLst>
          </p:nvPr>
        </p:nvGraphicFramePr>
        <p:xfrm>
          <a:off x="1" y="883603"/>
          <a:ext cx="12191999" cy="4901005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4921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5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5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0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21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355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sz="1600" b="1" dirty="0"/>
                        <a:t> Months  Activities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/>
                        <a:t>Dec</a:t>
                      </a:r>
                      <a:r>
                        <a:rPr sz="1600" b="1" dirty="0"/>
                        <a:t>’</a:t>
                      </a:r>
                      <a:r>
                        <a:rPr lang="en-US" sz="1600" b="1" dirty="0"/>
                        <a:t>25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IN" sz="1600" b="1" dirty="0"/>
                        <a:t>Jan</a:t>
                      </a:r>
                      <a:r>
                        <a:rPr sz="1600" b="1" dirty="0"/>
                        <a:t>’</a:t>
                      </a:r>
                      <a:r>
                        <a:rPr lang="en-US" sz="1600" b="1" dirty="0"/>
                        <a:t>26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/>
                        <a:t>Feb</a:t>
                      </a:r>
                      <a:r>
                        <a:rPr sz="1600" b="1" dirty="0"/>
                        <a:t>’</a:t>
                      </a:r>
                      <a:r>
                        <a:rPr lang="en-US" sz="1600" b="1" dirty="0"/>
                        <a:t>26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/>
                        <a:t>Mar</a:t>
                      </a:r>
                      <a:r>
                        <a:rPr sz="1600" b="1" dirty="0"/>
                        <a:t>’</a:t>
                      </a:r>
                      <a:r>
                        <a:rPr lang="en-US" sz="1600" b="1" dirty="0"/>
                        <a:t>26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/>
                        <a:t>Apr</a:t>
                      </a:r>
                      <a:r>
                        <a:rPr sz="1600" b="1" dirty="0"/>
                        <a:t>’</a:t>
                      </a:r>
                      <a:r>
                        <a:rPr lang="en-US" sz="1600" b="1" dirty="0"/>
                        <a:t>26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 of Study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✔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Problem Statement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800" b="1" i="0" u="non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✔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9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✔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 Collection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IN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800" b="1" i="0" u="non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✔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 Analysis and Interpretation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800" b="1" i="0" u="non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✔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IN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74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US" sz="1600" b="1" i="0" u="none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Summary and Conclusion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IN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800" b="1" i="0" u="non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✔</a:t>
                      </a:r>
                      <a:endParaRPr lang="en-IN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74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Preparation of Project Report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IN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IN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IN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IN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7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Thesis and Poster Submission </a:t>
                      </a: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IN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48646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Work – Plan </a:t>
            </a:r>
          </a:p>
        </p:txBody>
      </p:sp>
      <p:pic>
        <p:nvPicPr>
          <p:cNvPr id="2097162" name="Picture 6"/>
          <p:cNvPicPr>
            <a:picLocks noChangeAspect="1"/>
          </p:cNvPicPr>
          <p:nvPr/>
        </p:nvPicPr>
        <p:blipFill rotWithShape="1">
          <a:blip r:embed="rId2" cstate="print"/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7092F-9904-8C77-6FB5-378E6574F3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4CAEA-EA1A-EB32-9AB7-984FA958E0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468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048648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2097163" name="Picture 9"/>
          <p:cNvPicPr>
            <a:picLocks noChangeAspect="1"/>
          </p:cNvPicPr>
          <p:nvPr/>
        </p:nvPicPr>
        <p:blipFill rotWithShape="1">
          <a:blip r:embed="rId2" cstate="print"/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pic>
        <p:nvPicPr>
          <p:cNvPr id="2097164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25600"/>
            <a:ext cx="11501120" cy="4785519"/>
          </a:xfrm>
          <a:prstGeom prst="rect">
            <a:avLst/>
          </a:prstGeom>
        </p:spPr>
      </p:pic>
      <p:sp>
        <p:nvSpPr>
          <p:cNvPr id="1048649" name="TextBox 7"/>
          <p:cNvSpPr txBox="1"/>
          <p:nvPr/>
        </p:nvSpPr>
        <p:spPr>
          <a:xfrm>
            <a:off x="274320" y="1242982"/>
            <a:ext cx="502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https://www.zudio.com/collections/men</a:t>
            </a:r>
          </a:p>
        </p:txBody>
      </p:sp>
      <p:sp>
        <p:nvSpPr>
          <p:cNvPr id="1048650" name="TextBox 8"/>
          <p:cNvSpPr txBox="1"/>
          <p:nvPr/>
        </p:nvSpPr>
        <p:spPr>
          <a:xfrm>
            <a:off x="274320" y="741794"/>
            <a:ext cx="3677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/>
              <a:t>Zudio</a:t>
            </a:r>
            <a:r>
              <a:rPr lang="en-IN" sz="2400" b="1" dirty="0"/>
              <a:t> Website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048652" name="Title 1"/>
          <p:cNvSpPr txBox="1"/>
          <p:nvPr/>
        </p:nvSpPr>
        <p:spPr>
          <a:xfrm>
            <a:off x="2251075" y="1069975"/>
            <a:ext cx="7239000" cy="9080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endParaRPr lang="en-US" altLang="en-US" sz="3900" dirty="0">
              <a:solidFill>
                <a:srgbClr val="52525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48653" name="Rectangle 8"/>
          <p:cNvSpPr/>
          <p:nvPr/>
        </p:nvSpPr>
        <p:spPr>
          <a:xfrm>
            <a:off x="1766888" y="1978025"/>
            <a:ext cx="8207375" cy="18621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1500" b="1" i="1" u="none" strike="noStrike" kern="1200" cap="none" spc="0" normalizeH="0" baseline="0" noProof="0" dirty="0">
                <a:ln w="3175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Bodoni MT" panose="02070603080606020203" pitchFamily="18" charset="0"/>
                <a:ea typeface="+mn-ea"/>
                <a:cs typeface="+mn-cs"/>
              </a:rPr>
              <a:t>Thank you !</a:t>
            </a:r>
            <a:endParaRPr kumimoji="0" lang="en-IN" sz="11500" b="1" i="1" u="none" strike="noStrike" kern="1200" cap="none" spc="0" normalizeH="0" baseline="0" noProof="0" dirty="0">
              <a:ln w="3175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Bodoni MT" panose="02070603080606020203" pitchFamily="18" charset="0"/>
              <a:ea typeface="+mn-ea"/>
              <a:cs typeface="+mn-cs"/>
            </a:endParaRPr>
          </a:p>
        </p:txBody>
      </p:sp>
      <p:pic>
        <p:nvPicPr>
          <p:cNvPr id="2097165" name="Picture 5"/>
          <p:cNvPicPr>
            <a:picLocks noChangeAspect="1"/>
          </p:cNvPicPr>
          <p:nvPr/>
        </p:nvPicPr>
        <p:blipFill rotWithShape="1">
          <a:blip r:embed="rId2" cstate="print"/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1048654" name="Text Box 2"/>
          <p:cNvSpPr txBox="1">
            <a:spLocks noChangeArrowheads="1"/>
          </p:cNvSpPr>
          <p:nvPr/>
        </p:nvSpPr>
        <p:spPr bwMode="auto">
          <a:xfrm>
            <a:off x="2045335" y="6261102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Jalgaon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Pandhurna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2097166" name="Picture 7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408" y="5610859"/>
            <a:ext cx="1874520" cy="901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7" name="Picture 9" descr="C:\Users\Roshan_Dir_SP\AppData\Local\Packages\Microsoft.Windows.Photos_8wekyb3d8bbwe\TempState\ShareServiceTempFolder\GHRCEM Nagpur.jpeg"/>
          <p:cNvPicPr>
            <a:picLocks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860280" y="17464"/>
            <a:ext cx="2331720" cy="1506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1232</Words>
  <Application>Microsoft Office PowerPoint</Application>
  <PresentationFormat>Widescreen</PresentationFormat>
  <Paragraphs>214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Arial</vt:lpstr>
      <vt:lpstr>Arial Black</vt:lpstr>
      <vt:lpstr>Bodoni MT</vt:lpstr>
      <vt:lpstr>Calibri</vt:lpstr>
      <vt:lpstr>Calibri Light</vt:lpstr>
      <vt:lpstr>Castellar</vt:lpstr>
      <vt:lpstr>Courier New</vt:lpstr>
      <vt:lpstr>Google Sans</vt:lpstr>
      <vt:lpstr>Times New Roman</vt:lpstr>
      <vt:lpstr>Wingdings 2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user1</dc:creator>
  <cp:lastModifiedBy>sakshi manapure</cp:lastModifiedBy>
  <cp:revision>2</cp:revision>
  <dcterms:created xsi:type="dcterms:W3CDTF">2018-01-19T22:03:00Z</dcterms:created>
  <dcterms:modified xsi:type="dcterms:W3CDTF">2026-03-20T06:37:14Z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1033-11.2.0.10258</vt:lpwstr>
  </property>
  <property fmtid="{D5CDD505-2E9C-101B-9397-08002B2CF9AE}" pid="3" name="ICV">
    <vt:lpwstr>a3d17eab2c0d4d51a9ebcb71d4720453</vt:lpwstr>
  </property>
</Properties>
</file>